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6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E3E36-598D-D64A-ACA6-FA799B749E87}" v="8" dt="2026-05-11T10:14:58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4"/>
    <p:restoredTop sz="94696"/>
  </p:normalViewPr>
  <p:slideViewPr>
    <p:cSldViewPr snapToGrid="0">
      <p:cViewPr varScale="1">
        <p:scale>
          <a:sx n="137" d="100"/>
          <a:sy n="137" d="100"/>
        </p:scale>
        <p:origin x="2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Salvatore  Schiera" userId="8f493525-20c8-4f81-b3b3-bb4856990224" providerId="ADAL" clId="{1418216A-5856-5220-BA03-E2DDB77C2CA1}"/>
    <pc:docChg chg="custSel addSld delSld modSld">
      <pc:chgData name="Daniele Salvatore  Schiera" userId="8f493525-20c8-4f81-b3b3-bb4856990224" providerId="ADAL" clId="{1418216A-5856-5220-BA03-E2DDB77C2CA1}" dt="2026-05-11T11:02:47.002" v="591" actId="20577"/>
      <pc:docMkLst>
        <pc:docMk/>
      </pc:docMkLst>
      <pc:sldChg chg="modSp mod">
        <pc:chgData name="Daniele Salvatore  Schiera" userId="8f493525-20c8-4f81-b3b3-bb4856990224" providerId="ADAL" clId="{1418216A-5856-5220-BA03-E2DDB77C2CA1}" dt="2026-05-11T11:02:47.002" v="591" actId="20577"/>
        <pc:sldMkLst>
          <pc:docMk/>
          <pc:sldMk cId="3595924595" sldId="263"/>
        </pc:sldMkLst>
        <pc:spChg chg="mod">
          <ac:chgData name="Daniele Salvatore  Schiera" userId="8f493525-20c8-4f81-b3b3-bb4856990224" providerId="ADAL" clId="{1418216A-5856-5220-BA03-E2DDB77C2CA1}" dt="2026-05-11T11:02:47.002" v="591" actId="20577"/>
          <ac:spMkLst>
            <pc:docMk/>
            <pc:sldMk cId="3595924595" sldId="263"/>
            <ac:spMk id="2" creationId="{52838ADC-C889-936A-1E1F-65AB862AE666}"/>
          </ac:spMkLst>
        </pc:spChg>
      </pc:sldChg>
      <pc:sldChg chg="addSp delSp modSp add mod">
        <pc:chgData name="Daniele Salvatore  Schiera" userId="8f493525-20c8-4f81-b3b3-bb4856990224" providerId="ADAL" clId="{1418216A-5856-5220-BA03-E2DDB77C2CA1}" dt="2026-05-11T10:08:38.677" v="506" actId="1076"/>
        <pc:sldMkLst>
          <pc:docMk/>
          <pc:sldMk cId="370055594" sldId="266"/>
        </pc:sldMkLst>
        <pc:spChg chg="del">
          <ac:chgData name="Daniele Salvatore  Schiera" userId="8f493525-20c8-4f81-b3b3-bb4856990224" providerId="ADAL" clId="{1418216A-5856-5220-BA03-E2DDB77C2CA1}" dt="2026-05-11T10:07:58.805" v="439" actId="478"/>
          <ac:spMkLst>
            <pc:docMk/>
            <pc:sldMk cId="370055594" sldId="266"/>
            <ac:spMk id="2" creationId="{D5C6DB61-C991-EF4A-F7E8-3E3FAE7C70A0}"/>
          </ac:spMkLst>
        </pc:spChg>
        <pc:spChg chg="del">
          <ac:chgData name="Daniele Salvatore  Schiera" userId="8f493525-20c8-4f81-b3b3-bb4856990224" providerId="ADAL" clId="{1418216A-5856-5220-BA03-E2DDB77C2CA1}" dt="2026-05-11T10:08:05.230" v="441" actId="478"/>
          <ac:spMkLst>
            <pc:docMk/>
            <pc:sldMk cId="370055594" sldId="266"/>
            <ac:spMk id="3" creationId="{1E366633-395E-7F74-870D-814AAB11712E}"/>
          </ac:spMkLst>
        </pc:spChg>
        <pc:spChg chg="add del mod">
          <ac:chgData name="Daniele Salvatore  Schiera" userId="8f493525-20c8-4f81-b3b3-bb4856990224" providerId="ADAL" clId="{1418216A-5856-5220-BA03-E2DDB77C2CA1}" dt="2026-05-11T10:08:00.784" v="440" actId="478"/>
          <ac:spMkLst>
            <pc:docMk/>
            <pc:sldMk cId="370055594" sldId="266"/>
            <ac:spMk id="5" creationId="{A5A1BEFA-15D3-01B4-53EF-55336B219CAE}"/>
          </ac:spMkLst>
        </pc:spChg>
        <pc:spChg chg="add del mod">
          <ac:chgData name="Daniele Salvatore  Schiera" userId="8f493525-20c8-4f81-b3b3-bb4856990224" providerId="ADAL" clId="{1418216A-5856-5220-BA03-E2DDB77C2CA1}" dt="2026-05-11T10:08:06.720" v="442" actId="478"/>
          <ac:spMkLst>
            <pc:docMk/>
            <pc:sldMk cId="370055594" sldId="266"/>
            <ac:spMk id="7" creationId="{7139DEA6-2684-B6F5-86DD-6A18B66E186F}"/>
          </ac:spMkLst>
        </pc:spChg>
        <pc:spChg chg="add mod">
          <ac:chgData name="Daniele Salvatore  Schiera" userId="8f493525-20c8-4f81-b3b3-bb4856990224" providerId="ADAL" clId="{1418216A-5856-5220-BA03-E2DDB77C2CA1}" dt="2026-05-11T10:08:38.677" v="506" actId="1076"/>
          <ac:spMkLst>
            <pc:docMk/>
            <pc:sldMk cId="370055594" sldId="266"/>
            <ac:spMk id="11" creationId="{5C29C664-4157-3F75-6DD1-9EC8BB02D958}"/>
          </ac:spMkLst>
        </pc:spChg>
        <pc:graphicFrameChg chg="add mod">
          <ac:chgData name="Daniele Salvatore  Schiera" userId="8f493525-20c8-4f81-b3b3-bb4856990224" providerId="ADAL" clId="{1418216A-5856-5220-BA03-E2DDB77C2CA1}" dt="2026-05-11T10:08:07.647" v="443"/>
          <ac:graphicFrameMkLst>
            <pc:docMk/>
            <pc:sldMk cId="370055594" sldId="266"/>
            <ac:graphicFrameMk id="8" creationId="{95967AE2-8E68-3B2C-8A23-AE21E5A9E43C}"/>
          </ac:graphicFrameMkLst>
        </pc:graphicFrameChg>
        <pc:picChg chg="add mod">
          <ac:chgData name="Daniele Salvatore  Schiera" userId="8f493525-20c8-4f81-b3b3-bb4856990224" providerId="ADAL" clId="{1418216A-5856-5220-BA03-E2DDB77C2CA1}" dt="2026-05-11T10:08:07.647" v="443"/>
          <ac:picMkLst>
            <pc:docMk/>
            <pc:sldMk cId="370055594" sldId="266"/>
            <ac:picMk id="9" creationId="{D4F2498B-6C81-A1C5-1306-55BC270B554B}"/>
          </ac:picMkLst>
        </pc:picChg>
        <pc:picChg chg="add mod">
          <ac:chgData name="Daniele Salvatore  Schiera" userId="8f493525-20c8-4f81-b3b3-bb4856990224" providerId="ADAL" clId="{1418216A-5856-5220-BA03-E2DDB77C2CA1}" dt="2026-05-11T10:08:07.647" v="443"/>
          <ac:picMkLst>
            <pc:docMk/>
            <pc:sldMk cId="370055594" sldId="266"/>
            <ac:picMk id="10" creationId="{87E0AE53-B122-4434-D4DE-11F69F06BD41}"/>
          </ac:picMkLst>
        </pc:picChg>
      </pc:sldChg>
      <pc:sldChg chg="addSp delSp modSp new mod">
        <pc:chgData name="Daniele Salvatore  Schiera" userId="8f493525-20c8-4f81-b3b3-bb4856990224" providerId="ADAL" clId="{1418216A-5856-5220-BA03-E2DDB77C2CA1}" dt="2026-05-11T10:15:06.049" v="584" actId="113"/>
        <pc:sldMkLst>
          <pc:docMk/>
          <pc:sldMk cId="947501127" sldId="267"/>
        </pc:sldMkLst>
        <pc:spChg chg="mod">
          <ac:chgData name="Daniele Salvatore  Schiera" userId="8f493525-20c8-4f81-b3b3-bb4856990224" providerId="ADAL" clId="{1418216A-5856-5220-BA03-E2DDB77C2CA1}" dt="2026-05-11T10:15:06.049" v="584" actId="113"/>
          <ac:spMkLst>
            <pc:docMk/>
            <pc:sldMk cId="947501127" sldId="267"/>
            <ac:spMk id="2" creationId="{446BB35C-3B01-33AF-C148-661148E6D19D}"/>
          </ac:spMkLst>
        </pc:spChg>
        <pc:spChg chg="del">
          <ac:chgData name="Daniele Salvatore  Schiera" userId="8f493525-20c8-4f81-b3b3-bb4856990224" providerId="ADAL" clId="{1418216A-5856-5220-BA03-E2DDB77C2CA1}" dt="2026-05-11T10:12:10.308" v="508"/>
          <ac:spMkLst>
            <pc:docMk/>
            <pc:sldMk cId="947501127" sldId="267"/>
            <ac:spMk id="3" creationId="{2E3B1285-B002-954F-C8ED-BC4DC79EB8B2}"/>
          </ac:spMkLst>
        </pc:spChg>
        <pc:spChg chg="add mod">
          <ac:chgData name="Daniele Salvatore  Schiera" userId="8f493525-20c8-4f81-b3b3-bb4856990224" providerId="ADAL" clId="{1418216A-5856-5220-BA03-E2DDB77C2CA1}" dt="2026-05-11T10:14:58.450" v="581"/>
          <ac:spMkLst>
            <pc:docMk/>
            <pc:sldMk cId="947501127" sldId="267"/>
            <ac:spMk id="4" creationId="{6634938E-4A57-AB8B-F0E3-6FD0FC2AD0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0979B1-EF28-CB02-AB73-CB61532DE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8DB31E8-C7D4-8378-2052-8690F38A9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2DBCCB-6260-FF0B-1E97-726E54489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094CF4-46F8-6C1B-F903-AC1F1FF8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5A98DF-23C0-0408-92C0-27CB6941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777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DD2171-ED38-6208-4C9E-D7FD9510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89E86F-18EA-84E9-F650-00F55A3C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3B8616-B81F-9408-182D-E90970BB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CE5CD6-2014-CCCE-6349-09446533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32213F-BB6D-8CA6-635B-8F8805B2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9308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F52831-2054-6C9E-38A6-9A23416C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3DE92B-6CB3-C207-1324-4E9E67788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7D302F-E6DB-EEB8-8357-CD7DDC012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5EC44C-095F-3FD2-A677-6E551827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4F8BDAB-F4CD-8208-4D4B-4C7AA427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667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ED0D27-612C-A981-951A-052983ABE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F790CA-6A25-781E-865C-6896B7508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EDDD79C-B858-FCD8-348E-77723603B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C2DF89F-6FDD-B13B-CD48-D6AAC7AD4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0B56BA7-360C-680A-E11F-97D8C0DF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F7C44E5-5D95-2A12-0475-6F568BC8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246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439EC7-167F-65B6-F4FC-B3FE696A8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650F18-7645-4735-264C-29104A1C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AB30F1B-16ED-38BF-AE00-CF937310D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6E4CBBF-A7FE-6B35-B981-E49B5681AA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02DD472-D164-EC6D-7D6B-8DE376A21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6FF88A1-544D-8A6B-EA97-ABA45189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A390F46-85AC-43F1-0051-6CF19BA6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E252009-32A3-8255-2C56-E4E25760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027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3BC8A9-775C-1016-A4E2-9CDF50F6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8CB96A5-7523-3350-9FA8-83A713E9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E080151-E183-5667-2004-69D420AD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E18E0C-FD10-A682-06AC-DEE9617A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027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DAF5528-45E4-3E49-2FD6-0890A35C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B0C3409-BB36-3B75-3A6C-457F94CC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B8CBBB-969E-A62C-D059-C53D1C989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7545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CCD4B9-CAF5-AB9A-7239-82D4FD4E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8DBD64-05E2-DA7B-CCD7-ED12722E3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40A69EE-D0EF-EFA3-0E3F-53B54374A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963B05-7D5C-E751-0F9F-1EDF231F9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C25E079-1443-F18D-3AB9-33E3AFC1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F7B0439-E621-4830-1B23-D0BFEA2A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548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3462F0-526F-33FA-80FF-DB0EACB6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72515C8-6B93-34BC-5DB5-0B398134B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F0563AA-1A7A-F62B-175D-87ED2CD6A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D05F74-2BE1-B716-ADDC-5E4171B0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EE97BA5-913E-1831-8CE6-AB90FBE5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5D22FF0-A916-708B-B2EE-452D3E92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590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74D8AE-7636-015A-E6FF-2E38E30AE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82F5B84-3CB0-2C61-5646-596441BA2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D20716-25FC-5F5E-79C5-E9346A2C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14515D-4343-F145-819B-74C8729F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392582-28A5-6E54-3739-C5D0A693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2619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289D783-0517-E9B5-B5AA-347A387AE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6AFB87-0847-0E7C-CBBB-F75FBFE15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3D21A9-84B2-B621-3CDD-09BAEFE6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0A99A0-E239-8EFF-CDBD-E8703759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785A2D-D6F3-82B6-F802-82F30702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7511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804E904-CD8D-1421-CF1C-EA5691BE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3B76C0-B8A0-9DB2-8F6C-A3660C2FF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95A50E-C415-A2DB-A31B-C20693448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28350-7A1F-924D-A594-F2DE1D38B1FB}" type="datetimeFigureOut">
              <a:rPr lang="it-IT" smtClean="0"/>
              <a:t>11/05/26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CA42AE-8217-34E8-49E1-96A31D284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FA7D0D-173F-05D0-CBC5-9A2AAC898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CDC9F-3B29-D240-B174-0C983DC038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4871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zotero.org/groups/6419675/settings/member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14FD56-9A5C-E0BD-916D-FEBC3D61A3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4400" dirty="0" err="1"/>
              <a:t>Ontolgy</a:t>
            </a:r>
            <a:r>
              <a:rPr lang="it-IT" sz="4400" dirty="0"/>
              <a:t>, </a:t>
            </a:r>
            <a:r>
              <a:rPr lang="it-IT" sz="4400" dirty="0" err="1"/>
              <a:t>Semantics</a:t>
            </a:r>
            <a:r>
              <a:rPr lang="it-IT" sz="4400" dirty="0"/>
              <a:t> and Knowledge </a:t>
            </a:r>
            <a:r>
              <a:rPr lang="it-IT" sz="4400" dirty="0" err="1"/>
              <a:t>Graph</a:t>
            </a:r>
            <a:r>
              <a:rPr lang="it-IT" sz="4400" dirty="0"/>
              <a:t>, </a:t>
            </a:r>
            <a:r>
              <a:rPr lang="it-IT" sz="4400" dirty="0" err="1"/>
              <a:t>transdisciplinarity</a:t>
            </a:r>
            <a:r>
              <a:rPr lang="it-IT" sz="4400" dirty="0"/>
              <a:t> and so on.. </a:t>
            </a:r>
            <a:br>
              <a:rPr lang="it-IT" sz="4400" dirty="0"/>
            </a:br>
            <a:r>
              <a:rPr lang="it-IT" sz="4400" dirty="0"/>
              <a:t>Semantic Layer for new System and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02665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F3DA99-0353-BF6D-AF2D-7A117EF30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Semantic Layer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8B93570-D357-B308-69A4-5764CCC92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Maps data to concepts, </a:t>
            </a:r>
            <a:r>
              <a:rPr lang="it-IT" dirty="0" err="1"/>
              <a:t>dimensions</a:t>
            </a:r>
            <a:r>
              <a:rPr lang="it-IT" dirty="0"/>
              <a:t>, </a:t>
            </a:r>
            <a:r>
              <a:rPr lang="it-IT" dirty="0" err="1"/>
              <a:t>measures</a:t>
            </a:r>
            <a:r>
              <a:rPr lang="it-IT" dirty="0"/>
              <a:t>, models, and </a:t>
            </a:r>
            <a:r>
              <a:rPr lang="it-IT" dirty="0" err="1"/>
              <a:t>results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562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2997D-2BE6-3D7F-F93E-37AA9D66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F68AAC-3A7A-557E-0963-26B1B18C9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Terms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4FFCF0E-217C-28AD-BBAF-B5C9750E69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List of Business </a:t>
            </a:r>
            <a:r>
              <a:rPr lang="it-IT" dirty="0" err="1"/>
              <a:t>Terms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80758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0F66-0A93-8B83-2D14-926C08011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69F17A-B2E1-C02C-83E7-63F584D79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Glossary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0C8B4BA-4FC6-76B2-1465-22411FC1E5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err="1"/>
              <a:t>Terms</a:t>
            </a:r>
            <a:r>
              <a:rPr lang="it-IT" dirty="0"/>
              <a:t> + </a:t>
            </a:r>
            <a:r>
              <a:rPr lang="it-IT" dirty="0" err="1"/>
              <a:t>Definitions</a:t>
            </a:r>
            <a:br>
              <a:rPr lang="it-IT" dirty="0"/>
            </a:br>
            <a:r>
              <a:rPr lang="it-IT" dirty="0"/>
              <a:t>List of </a:t>
            </a:r>
            <a:r>
              <a:rPr lang="it-IT" dirty="0" err="1"/>
              <a:t>terms</a:t>
            </a:r>
            <a:r>
              <a:rPr lang="it-IT" dirty="0"/>
              <a:t> and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definitions</a:t>
            </a:r>
            <a:r>
              <a:rPr lang="it-IT" dirty="0"/>
              <a:t>,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to </a:t>
            </a:r>
            <a:r>
              <a:rPr lang="it-IT" dirty="0" err="1"/>
              <a:t>align</a:t>
            </a:r>
            <a:r>
              <a:rPr lang="it-IT" dirty="0"/>
              <a:t> </a:t>
            </a:r>
            <a:r>
              <a:rPr lang="it-IT" dirty="0" err="1"/>
              <a:t>understanding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teams. </a:t>
            </a:r>
            <a:r>
              <a:rPr lang="it-IT" dirty="0" err="1"/>
              <a:t>Controlled</a:t>
            </a:r>
            <a:r>
              <a:rPr lang="it-IT" dirty="0"/>
              <a:t> </a:t>
            </a:r>
            <a:r>
              <a:rPr lang="it-IT" dirty="0" err="1"/>
              <a:t>Vocabulary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4223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7ABE-9ABD-BCF2-63C1-E137C67C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8EB2B1-C9A0-4B0D-825F-5DBBBF614C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Taxonomy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C2D4753-0E80-4754-4635-19C56426F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err="1"/>
              <a:t>Glossary</a:t>
            </a:r>
            <a:r>
              <a:rPr lang="it-IT" dirty="0"/>
              <a:t> + </a:t>
            </a:r>
            <a:r>
              <a:rPr lang="it-IT" dirty="0" err="1"/>
              <a:t>Hierarchical</a:t>
            </a:r>
            <a:r>
              <a:rPr lang="it-IT" dirty="0"/>
              <a:t> </a:t>
            </a:r>
            <a:r>
              <a:rPr lang="it-IT" dirty="0" err="1"/>
              <a:t>Structure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hierarchical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system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organizes</a:t>
            </a:r>
            <a:r>
              <a:rPr lang="it-IT" dirty="0"/>
              <a:t> concepts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parent-child</a:t>
            </a:r>
            <a:r>
              <a:rPr lang="it-IT" dirty="0"/>
              <a:t> </a:t>
            </a:r>
            <a:r>
              <a:rPr lang="it-IT" dirty="0" err="1"/>
              <a:t>relationships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3836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5436-3A14-CAAC-F517-EFF43EF91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045A7A-D80E-318D-7DA7-2091CC18E4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Ontology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213B054-CF44-1ACB-7D57-3B71DDD24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err="1"/>
              <a:t>Taxonomy</a:t>
            </a:r>
            <a:r>
              <a:rPr lang="it-IT" dirty="0"/>
              <a:t> + </a:t>
            </a:r>
            <a:r>
              <a:rPr lang="it-IT" dirty="0" err="1"/>
              <a:t>Relationtioships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formal</a:t>
            </a:r>
            <a:r>
              <a:rPr lang="it-IT" dirty="0"/>
              <a:t> model of concepts, </a:t>
            </a:r>
            <a:r>
              <a:rPr lang="it-IT" dirty="0" err="1"/>
              <a:t>attributes</a:t>
            </a:r>
            <a:r>
              <a:rPr lang="it-IT" dirty="0"/>
              <a:t>, </a:t>
            </a:r>
            <a:r>
              <a:rPr lang="it-IT" dirty="0" err="1"/>
              <a:t>relationships</a:t>
            </a:r>
            <a:r>
              <a:rPr lang="it-IT" dirty="0"/>
              <a:t>, and </a:t>
            </a:r>
            <a:r>
              <a:rPr lang="it-IT" dirty="0" err="1"/>
              <a:t>axioms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a domain, </a:t>
            </a:r>
            <a:r>
              <a:rPr lang="it-IT" dirty="0" err="1"/>
              <a:t>enabling</a:t>
            </a:r>
            <a:r>
              <a:rPr lang="it-IT" dirty="0"/>
              <a:t> </a:t>
            </a:r>
            <a:r>
              <a:rPr lang="it-IT" dirty="0" err="1"/>
              <a:t>shared</a:t>
            </a:r>
            <a:r>
              <a:rPr lang="it-IT" dirty="0"/>
              <a:t> </a:t>
            </a:r>
            <a:r>
              <a:rPr lang="it-IT" dirty="0" err="1"/>
              <a:t>understanding</a:t>
            </a:r>
            <a:r>
              <a:rPr lang="it-IT" dirty="0"/>
              <a:t> and </a:t>
            </a:r>
            <a:r>
              <a:rPr lang="it-IT" dirty="0" err="1"/>
              <a:t>reasoning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640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52A8-BB87-4C0B-FB79-55645308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838ADC-C889-936A-1E1F-65AB862AE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Knowledge-</a:t>
            </a:r>
            <a:r>
              <a:rPr lang="it-IT" dirty="0" err="1"/>
              <a:t>based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BC32BC-C5C7-D284-39AD-C610A0563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err="1"/>
              <a:t>Ontology</a:t>
            </a:r>
            <a:r>
              <a:rPr lang="it-IT" dirty="0"/>
              <a:t> + Data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formal</a:t>
            </a:r>
            <a:r>
              <a:rPr lang="it-IT" dirty="0"/>
              <a:t> model of concepts, </a:t>
            </a:r>
            <a:r>
              <a:rPr lang="it-IT" dirty="0" err="1"/>
              <a:t>attributes</a:t>
            </a:r>
            <a:r>
              <a:rPr lang="it-IT" dirty="0"/>
              <a:t>, </a:t>
            </a:r>
            <a:r>
              <a:rPr lang="it-IT" dirty="0" err="1"/>
              <a:t>relationships</a:t>
            </a:r>
            <a:r>
              <a:rPr lang="it-IT" dirty="0"/>
              <a:t>, and </a:t>
            </a:r>
            <a:r>
              <a:rPr lang="it-IT" dirty="0" err="1"/>
              <a:t>axioms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a domain, </a:t>
            </a:r>
            <a:r>
              <a:rPr lang="it-IT" dirty="0" err="1"/>
              <a:t>enabling</a:t>
            </a:r>
            <a:r>
              <a:rPr lang="it-IT" dirty="0"/>
              <a:t> </a:t>
            </a:r>
            <a:r>
              <a:rPr lang="it-IT" dirty="0" err="1"/>
              <a:t>shared</a:t>
            </a:r>
            <a:r>
              <a:rPr lang="it-IT" dirty="0"/>
              <a:t> </a:t>
            </a:r>
            <a:r>
              <a:rPr lang="it-IT" dirty="0" err="1"/>
              <a:t>understanding</a:t>
            </a:r>
            <a:r>
              <a:rPr lang="it-IT" dirty="0"/>
              <a:t> and </a:t>
            </a:r>
            <a:r>
              <a:rPr lang="it-IT" dirty="0" err="1"/>
              <a:t>reasoning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9592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6BB35C-3B01-33AF-C148-661148E6D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556" y="1779255"/>
            <a:ext cx="10515600" cy="1325563"/>
          </a:xfrm>
        </p:spPr>
        <p:txBody>
          <a:bodyPr/>
          <a:lstStyle/>
          <a:p>
            <a:pPr algn="ctr"/>
            <a:r>
              <a:rPr lang="it-IT" altLang="it-IT" dirty="0" err="1">
                <a:solidFill>
                  <a:srgbClr val="242424"/>
                </a:solidFill>
                <a:latin typeface="source-serif-pro"/>
              </a:rPr>
              <a:t>competency</a:t>
            </a:r>
            <a:r>
              <a:rPr lang="it-IT" altLang="it-IT" dirty="0">
                <a:solidFill>
                  <a:srgbClr val="242424"/>
                </a:solidFill>
                <a:latin typeface="source-serif-pro"/>
              </a:rPr>
              <a:t> </a:t>
            </a:r>
            <a:r>
              <a:rPr lang="it-IT" altLang="it-IT" dirty="0" err="1">
                <a:solidFill>
                  <a:srgbClr val="242424"/>
                </a:solidFill>
                <a:latin typeface="source-serif-pro"/>
              </a:rPr>
              <a:t>questions</a:t>
            </a:r>
            <a:r>
              <a:rPr lang="it-IT" altLang="it-IT" dirty="0">
                <a:solidFill>
                  <a:srgbClr val="242424"/>
                </a:solidFill>
                <a:latin typeface="source-serif-pro"/>
              </a:rPr>
              <a:t> </a:t>
            </a:r>
            <a:endParaRPr lang="it-IT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34938E-4A57-AB8B-F0E3-6FD0FC2AD0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42068"/>
            <a:ext cx="10432312" cy="918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72964" rIns="0" bIns="-4919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500" b="1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Ontology</a:t>
            </a:r>
            <a:r>
              <a:rPr kumimoji="0" lang="it-IT" altLang="it-IT" sz="15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Development </a:t>
            </a:r>
            <a:r>
              <a:rPr kumimoji="0" lang="it-IT" altLang="it-IT" sz="1500" b="1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approach</a:t>
            </a:r>
            <a:endParaRPr kumimoji="0" lang="it-IT" altLang="it-IT" sz="1500" b="1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Competency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questions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are user-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oriented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interrogatives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that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allow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us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to scope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our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ontology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.  In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other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words,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they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are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questions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that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our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users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would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want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it-IT" altLang="it-IT" sz="1500" dirty="0">
                <a:solidFill>
                  <a:srgbClr val="242424"/>
                </a:solidFill>
                <a:latin typeface="source-serif-pro"/>
              </a:rPr>
              <a:t>to </a:t>
            </a:r>
            <a:r>
              <a:rPr lang="it-IT" altLang="it-IT" sz="1500" dirty="0" err="1">
                <a:solidFill>
                  <a:srgbClr val="242424"/>
                </a:solidFill>
                <a:latin typeface="source-serif-pro"/>
              </a:rPr>
              <a:t>answer</a:t>
            </a:r>
            <a:r>
              <a:rPr lang="it-IT" altLang="it-IT" sz="1500" dirty="0">
                <a:solidFill>
                  <a:srgbClr val="242424"/>
                </a:solidFill>
                <a:latin typeface="source-serif-pro"/>
              </a:rPr>
              <a:t> by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exploring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and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querying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the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ontology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and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its</a:t>
            </a:r>
            <a:r>
              <a:rPr lang="it-IT" altLang="it-IT" sz="1500" dirty="0">
                <a:solidFill>
                  <a:srgbClr val="242424"/>
                </a:solidFill>
                <a:latin typeface="source-serif-pro"/>
              </a:rPr>
              <a:t> </a:t>
            </a:r>
            <a:r>
              <a:rPr kumimoji="0" lang="it-IT" altLang="it-IT" sz="15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associated</a:t>
            </a:r>
            <a:r>
              <a:rPr kumimoji="0" lang="it-IT" altLang="it-IT" sz="15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knowledge base.</a:t>
            </a:r>
          </a:p>
        </p:txBody>
      </p:sp>
    </p:spTree>
    <p:extLst>
      <p:ext uri="{BB962C8B-B14F-4D97-AF65-F5344CB8AC3E}">
        <p14:creationId xmlns:p14="http://schemas.microsoft.com/office/powerpoint/2010/main" val="947501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70A5-19E3-479B-A9FA-BCC33B25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5967AE2-8E68-3B2C-8A23-AE21E5A9E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534301"/>
              </p:ext>
            </p:extLst>
          </p:nvPr>
        </p:nvGraphicFramePr>
        <p:xfrm>
          <a:off x="336000" y="1125538"/>
          <a:ext cx="8280000" cy="5165454"/>
        </p:xfrm>
        <a:graphic>
          <a:graphicData uri="http://schemas.openxmlformats.org/drawingml/2006/table">
            <a:tbl>
              <a:tblPr/>
              <a:tblGrid>
                <a:gridCol w="1054671">
                  <a:extLst>
                    <a:ext uri="{9D8B030D-6E8A-4147-A177-3AD203B41FA5}">
                      <a16:colId xmlns:a16="http://schemas.microsoft.com/office/drawing/2014/main" val="2603282225"/>
                    </a:ext>
                  </a:extLst>
                </a:gridCol>
                <a:gridCol w="7225329">
                  <a:extLst>
                    <a:ext uri="{9D8B030D-6E8A-4147-A177-3AD203B41FA5}">
                      <a16:colId xmlns:a16="http://schemas.microsoft.com/office/drawing/2014/main" val="327842737"/>
                    </a:ext>
                  </a:extLst>
                </a:gridCol>
              </a:tblGrid>
              <a:tr h="81486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Concept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Definition</a:t>
                      </a:r>
                    </a:p>
                  </a:txBody>
                  <a:tcPr marL="4074" marR="4074" marT="407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541985"/>
                  </a:ext>
                </a:extLst>
              </a:tr>
              <a:tr h="765966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Framework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Software architecture able to perform simulation by coupling and managing standalone subsystems (Simulators) while using their native domain-specific tools and languages in a black-box manner in a shared and distributed simulation environment. The co-simulation approach takes care of time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synchronisation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and data exchange management between the simulators and the shared simulation environment through the orchestrator algorithm in order to achieve the given Scenario.</a:t>
                      </a:r>
                    </a:p>
                  </a:txBody>
                  <a:tcPr marL="4074" marR="4074" marT="407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832671"/>
                  </a:ext>
                </a:extLst>
              </a:tr>
              <a:tr h="653402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Simulator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is a software package that handles one or more simulation units of particular subsystems and provides functions for multiple instantiation,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initialisation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advancing time and data propagation among the simulators. In general, the simulator should be capable of execute the model calling the following functions: initialization(), instantiation(),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set_data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(),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do_step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(),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get_data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(), terminate()</a:t>
                      </a:r>
                    </a:p>
                  </a:txBody>
                  <a:tcPr marL="4074" marR="4074" marT="407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00445"/>
                  </a:ext>
                </a:extLst>
              </a:tr>
              <a:tr h="162971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Unit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represents a subsystem composed by a model and a solver.</a:t>
                      </a:r>
                    </a:p>
                  </a:txBody>
                  <a:tcPr marL="4074" marR="4074" marT="407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168752"/>
                  </a:ext>
                </a:extLst>
              </a:tr>
              <a:tr h="325943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is a representation of a subsystem with a certain level of detail, abstraction and  perspective defined by its formal language, structure, characteristics, input variables, and parameters, and interpreted by a solver.</a:t>
                      </a:r>
                    </a:p>
                  </a:txBody>
                  <a:tcPr marL="4074" marR="4074" marT="407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368448"/>
                  </a:ext>
                </a:extLst>
              </a:tr>
              <a:tr h="325943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Solver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is a software or library the solves a (mathematical) problem. In particular, it is generally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specialised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solving a particular and domain-specific problem taking a formal problem description, i.e. the model, and calculating its solution</a:t>
                      </a:r>
                    </a:p>
                  </a:txBody>
                  <a:tcPr marL="4074" marR="4074" marT="407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09432"/>
                  </a:ext>
                </a:extLst>
              </a:tr>
              <a:tr h="244457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set of background assumptions on the system, sub-systems, and its environment that put a Use Case (or a group of Use Cases) in a certain context. </a:t>
                      </a:r>
                    </a:p>
                  </a:txBody>
                  <a:tcPr marL="4074" marR="4074" marT="407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54846"/>
                  </a:ext>
                </a:extLst>
              </a:tr>
              <a:tr h="244457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Case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 defines a user’s view (actors, stakeholders) thorugh interactions with (and within) the system to achieve a specific goal/outcome . </a:t>
                      </a:r>
                    </a:p>
                  </a:txBody>
                  <a:tcPr marL="4074" marR="4074" marT="407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418062"/>
                  </a:ext>
                </a:extLst>
              </a:tr>
              <a:tr h="651886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System 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set of interrelated or interacting elements. The term System is used in the ISO/IEC/IEEE 42010:2022 to refer to entities whose architectures and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behaviours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 are of interest. The entities may be configured with one or more of the following: hardware, software, mathematics, data, humans, processes (e.g., processes for providing service to users), procedures (e.g. operator instructions or control strategies), facilities, materials, and naturally occurring entities. </a:t>
                      </a:r>
                    </a:p>
                  </a:txBody>
                  <a:tcPr marL="4074" marR="4074" marT="407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802640"/>
                  </a:ext>
                </a:extLst>
              </a:tr>
              <a:tr h="325943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 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Fundamental concepts or properties of a System in its environment embodied in its elements, relationships, and in the principles of its design, functionality, and evolution.  Following ISO/IEC/IEEE 42010:2022.</a:t>
                      </a:r>
                    </a:p>
                  </a:txBody>
                  <a:tcPr marL="4074" marR="4074" marT="407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44904"/>
                  </a:ext>
                </a:extLst>
              </a:tr>
              <a:tr h="244457">
                <a:tc>
                  <a:txBody>
                    <a:bodyPr/>
                    <a:lstStyle/>
                    <a:p>
                      <a:pPr algn="l" fontAlgn="ctr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Study</a:t>
                      </a:r>
                    </a:p>
                  </a:txBody>
                  <a:tcPr marL="4074" marR="4074" marT="407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Study and implementation of the system or sub-system with the aim of verifying or build the theoretical models, algorithms, and show its applications   </a:t>
                      </a:r>
                    </a:p>
                  </a:txBody>
                  <a:tcPr marL="4074" marR="4074" marT="407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86954"/>
                  </a:ext>
                </a:extLst>
              </a:tr>
            </a:tbl>
          </a:graphicData>
        </a:graphic>
      </p:graphicFrame>
      <p:pic>
        <p:nvPicPr>
          <p:cNvPr id="9" name="Immagine 8">
            <a:extLst>
              <a:ext uri="{FF2B5EF4-FFF2-40B4-BE49-F238E27FC236}">
                <a16:creationId xmlns:a16="http://schemas.microsoft.com/office/drawing/2014/main" id="{D4F2498B-6C81-A1C5-1306-55BC270B5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444" y="521346"/>
            <a:ext cx="3136772" cy="2935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7E0AE53-B122-4434-D4DE-11F69F06B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903" y="3490820"/>
            <a:ext cx="2362530" cy="271500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C29C664-4157-3F75-6DD1-9EC8BB02D958}"/>
              </a:ext>
            </a:extLst>
          </p:cNvPr>
          <p:cNvSpPr txBox="1"/>
          <p:nvPr/>
        </p:nvSpPr>
        <p:spPr>
          <a:xfrm>
            <a:off x="365784" y="336680"/>
            <a:ext cx="3245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Co-</a:t>
            </a:r>
            <a:r>
              <a:rPr lang="it-IT" dirty="0" err="1"/>
              <a:t>simulation</a:t>
            </a:r>
            <a:r>
              <a:rPr lang="it-IT" dirty="0"/>
              <a:t> –</a:t>
            </a:r>
            <a:r>
              <a:rPr lang="it-IT" dirty="0" err="1"/>
              <a:t>based</a:t>
            </a:r>
            <a:r>
              <a:rPr lang="it-IT" dirty="0"/>
              <a:t> concept</a:t>
            </a:r>
          </a:p>
        </p:txBody>
      </p:sp>
    </p:spTree>
    <p:extLst>
      <p:ext uri="{BB962C8B-B14F-4D97-AF65-F5344CB8AC3E}">
        <p14:creationId xmlns:p14="http://schemas.microsoft.com/office/powerpoint/2010/main" val="37005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1F99BD-27CC-B493-4567-5C61A929C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Next Actions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5B8845-9740-2805-BA7E-359862A5D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7576" cy="4351338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Lit</a:t>
            </a:r>
            <a:r>
              <a:rPr lang="it-IT" dirty="0"/>
              <a:t> and </a:t>
            </a:r>
            <a:r>
              <a:rPr lang="it-IT" dirty="0" err="1"/>
              <a:t>SoA</a:t>
            </a:r>
            <a:r>
              <a:rPr lang="it-IT" dirty="0"/>
              <a:t> on coesi and </a:t>
            </a:r>
            <a:r>
              <a:rPr lang="it-IT" dirty="0" err="1"/>
              <a:t>linked</a:t>
            </a:r>
            <a:r>
              <a:rPr lang="it-IT" dirty="0"/>
              <a:t> (</a:t>
            </a:r>
            <a:r>
              <a:rPr lang="it-IT" dirty="0" err="1"/>
              <a:t>ontology</a:t>
            </a:r>
            <a:r>
              <a:rPr lang="it-IT" dirty="0"/>
              <a:t>, </a:t>
            </a:r>
            <a:r>
              <a:rPr lang="it-IT" dirty="0" err="1"/>
              <a:t>simulation</a:t>
            </a:r>
            <a:r>
              <a:rPr lang="it-IT" dirty="0"/>
              <a:t> etc.)</a:t>
            </a:r>
          </a:p>
          <a:p>
            <a:r>
              <a:rPr lang="it-IT" dirty="0"/>
              <a:t>Planning on </a:t>
            </a:r>
            <a:r>
              <a:rPr lang="it-IT" dirty="0" err="1"/>
              <a:t>semantics</a:t>
            </a:r>
            <a:r>
              <a:rPr lang="it-IT" dirty="0"/>
              <a:t> </a:t>
            </a:r>
            <a:r>
              <a:rPr lang="it-IT" dirty="0" err="1"/>
              <a:t>stuff</a:t>
            </a:r>
            <a:r>
              <a:rPr lang="it-IT" dirty="0"/>
              <a:t> with coesi (OKR) (AI-</a:t>
            </a:r>
            <a:r>
              <a:rPr lang="it-IT" dirty="0" err="1"/>
              <a:t>Assisted</a:t>
            </a:r>
            <a:r>
              <a:rPr lang="it-IT" dirty="0"/>
              <a:t> </a:t>
            </a:r>
            <a:r>
              <a:rPr lang="it-IT" dirty="0" err="1"/>
              <a:t>Ontology</a:t>
            </a:r>
            <a:r>
              <a:rPr lang="it-IT" dirty="0"/>
              <a:t> </a:t>
            </a:r>
            <a:r>
              <a:rPr lang="it-IT" dirty="0" err="1"/>
              <a:t>Creation</a:t>
            </a:r>
            <a:r>
              <a:rPr lang="it-IT" dirty="0"/>
              <a:t>, etc..)</a:t>
            </a:r>
          </a:p>
          <a:p>
            <a:r>
              <a:rPr lang="it-IT" dirty="0" err="1"/>
              <a:t>Zotero</a:t>
            </a:r>
            <a:r>
              <a:rPr lang="it-IT" dirty="0"/>
              <a:t> group </a:t>
            </a:r>
            <a:r>
              <a:rPr lang="it-IT" dirty="0">
                <a:hlinkClick r:id="rId2"/>
              </a:rPr>
              <a:t>https://www.zotero.org/groups/6419675/settings/members</a:t>
            </a:r>
            <a:endParaRPr lang="it-IT" dirty="0"/>
          </a:p>
          <a:p>
            <a:r>
              <a:rPr lang="it-IT" dirty="0" err="1"/>
              <a:t>Creating</a:t>
            </a:r>
            <a:r>
              <a:rPr lang="it-IT" dirty="0"/>
              <a:t> </a:t>
            </a:r>
            <a:r>
              <a:rPr lang="it-IT" dirty="0" err="1"/>
              <a:t>Ontology</a:t>
            </a:r>
            <a:r>
              <a:rPr lang="it-IT" dirty="0"/>
              <a:t> (OWL/RDF, </a:t>
            </a:r>
            <a:r>
              <a:rPr lang="it-IT" dirty="0" err="1"/>
              <a:t>ttl</a:t>
            </a:r>
            <a:r>
              <a:rPr lang="it-IT" dirty="0"/>
              <a:t>, </a:t>
            </a:r>
            <a:r>
              <a:rPr lang="it-IT" dirty="0" err="1"/>
              <a:t>shared</a:t>
            </a:r>
            <a:r>
              <a:rPr lang="it-IT" dirty="0"/>
              <a:t>, ONE)</a:t>
            </a:r>
          </a:p>
          <a:p>
            <a:r>
              <a:rPr lang="it-IT" dirty="0"/>
              <a:t>First KG </a:t>
            </a:r>
            <a:r>
              <a:rPr lang="it-IT" dirty="0" err="1"/>
              <a:t>should</a:t>
            </a:r>
            <a:r>
              <a:rPr lang="it-IT" dirty="0"/>
              <a:t> be on Metadata!</a:t>
            </a:r>
          </a:p>
          <a:p>
            <a:r>
              <a:rPr lang="it-IT"/>
              <a:t>Coding Agent</a:t>
            </a:r>
            <a:endParaRPr lang="it-IT" dirty="0"/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FAB4F24-A0CE-FADB-71E0-F9309DB94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929" y="1390276"/>
            <a:ext cx="2946400" cy="42926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0C1334-9FE7-52E2-31EA-49896BFBE097}"/>
              </a:ext>
            </a:extLst>
          </p:cNvPr>
          <p:cNvSpPr txBox="1"/>
          <p:nvPr/>
        </p:nvSpPr>
        <p:spPr>
          <a:xfrm>
            <a:off x="7288307" y="5817813"/>
            <a:ext cx="4555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https://</a:t>
            </a:r>
            <a:r>
              <a:rPr lang="it-IT" dirty="0" err="1"/>
              <a:t>github.com</a:t>
            </a:r>
            <a:r>
              <a:rPr lang="it-IT" dirty="0"/>
              <a:t>/</a:t>
            </a:r>
            <a:r>
              <a:rPr lang="it-IT" dirty="0" err="1"/>
              <a:t>Hawksight</a:t>
            </a:r>
            <a:r>
              <a:rPr lang="it-IT" dirty="0"/>
              <a:t>-AI/semantica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B1F38CC-3E92-179C-118C-0B64D52BF4F5}"/>
              </a:ext>
            </a:extLst>
          </p:cNvPr>
          <p:cNvSpPr txBox="1"/>
          <p:nvPr/>
        </p:nvSpPr>
        <p:spPr>
          <a:xfrm>
            <a:off x="5731809" y="6308209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https://</a:t>
            </a:r>
            <a:r>
              <a:rPr lang="it-IT" dirty="0" err="1"/>
              <a:t>timbr.ai</a:t>
            </a:r>
            <a:r>
              <a:rPr lang="it-IT" dirty="0"/>
              <a:t>/</a:t>
            </a:r>
            <a:r>
              <a:rPr lang="it-IT" dirty="0" err="1"/>
              <a:t>timbr</a:t>
            </a:r>
            <a:r>
              <a:rPr lang="it-IT" dirty="0"/>
              <a:t>-core/</a:t>
            </a:r>
            <a:r>
              <a:rPr lang="it-IT" dirty="0" err="1"/>
              <a:t>ontology</a:t>
            </a:r>
            <a:r>
              <a:rPr lang="it-IT" dirty="0"/>
              <a:t>-</a:t>
            </a:r>
            <a:r>
              <a:rPr lang="it-IT" dirty="0" err="1"/>
              <a:t>based</a:t>
            </a:r>
            <a:r>
              <a:rPr lang="it-IT" dirty="0"/>
              <a:t>-semantic-</a:t>
            </a:r>
            <a:r>
              <a:rPr lang="it-IT" dirty="0" err="1"/>
              <a:t>layer</a:t>
            </a:r>
            <a:r>
              <a:rPr lang="it-IT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920841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246F50D1C235B4B85020039AED6DAD4" ma:contentTypeVersion="17" ma:contentTypeDescription="Creare un nuovo documento." ma:contentTypeScope="" ma:versionID="5f3fa9ee2a89c8ff91c95a7f1e7c07bc">
  <xsd:schema xmlns:xsd="http://www.w3.org/2001/XMLSchema" xmlns:xs="http://www.w3.org/2001/XMLSchema" xmlns:p="http://schemas.microsoft.com/office/2006/metadata/properties" xmlns:ns2="45f97208-f634-4b84-a6fb-8cd9d131940d" xmlns:ns3="3c8d1cdb-57e6-4204-ac4e-fa56f1962367" targetNamespace="http://schemas.microsoft.com/office/2006/metadata/properties" ma:root="true" ma:fieldsID="88cd03f99aaa5957825b180681f776c3" ns2:_="" ns3:_="">
    <xsd:import namespace="45f97208-f634-4b84-a6fb-8cd9d131940d"/>
    <xsd:import namespace="3c8d1cdb-57e6-4204-ac4e-fa56f19623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97208-f634-4b84-a6fb-8cd9d13194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Tag immagine" ma:readOnly="false" ma:fieldId="{5cf76f15-5ced-4ddc-b409-7134ff3c332f}" ma:taxonomyMulti="true" ma:sspId="01d839f4-5e4e-4afa-85c1-b6ecef325b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8d1cdb-57e6-4204-ac4e-fa56f196236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dfb7d444-2cf5-4706-8c15-0ba7d95d639f}" ma:internalName="TaxCatchAll" ma:showField="CatchAllData" ma:web="3c8d1cdb-57e6-4204-ac4e-fa56f19623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f97208-f634-4b84-a6fb-8cd9d131940d">
      <Terms xmlns="http://schemas.microsoft.com/office/infopath/2007/PartnerControls"/>
    </lcf76f155ced4ddcb4097134ff3c332f>
    <TaxCatchAll xmlns="3c8d1cdb-57e6-4204-ac4e-fa56f1962367" xsi:nil="true"/>
  </documentManagement>
</p:properties>
</file>

<file path=customXml/itemProps1.xml><?xml version="1.0" encoding="utf-8"?>
<ds:datastoreItem xmlns:ds="http://schemas.openxmlformats.org/officeDocument/2006/customXml" ds:itemID="{8FA00943-4B76-4AF3-ADBC-B8BF3531B12C}"/>
</file>

<file path=customXml/itemProps2.xml><?xml version="1.0" encoding="utf-8"?>
<ds:datastoreItem xmlns:ds="http://schemas.openxmlformats.org/officeDocument/2006/customXml" ds:itemID="{EB20BE08-BF40-4062-814F-A426EC62304B}"/>
</file>

<file path=customXml/itemProps3.xml><?xml version="1.0" encoding="utf-8"?>
<ds:datastoreItem xmlns:ds="http://schemas.openxmlformats.org/officeDocument/2006/customXml" ds:itemID="{F343491A-35F3-43A5-AF9E-7A36C00E391B}"/>
</file>

<file path=docProps/app.xml><?xml version="1.0" encoding="utf-8"?>
<Properties xmlns="http://schemas.openxmlformats.org/officeDocument/2006/extended-properties" xmlns:vt="http://schemas.openxmlformats.org/officeDocument/2006/docPropsVTypes">
  <TotalTime>7068</TotalTime>
  <Words>718</Words>
  <Application>Microsoft Macintosh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source-serif-pro</vt:lpstr>
      <vt:lpstr>Tema di Office</vt:lpstr>
      <vt:lpstr>Ontolgy, Semantics and Knowledge Graph, transdisciplinarity and so on..  Semantic Layer for new System and Software Engineering</vt:lpstr>
      <vt:lpstr>Semantic Layer</vt:lpstr>
      <vt:lpstr>Terms</vt:lpstr>
      <vt:lpstr>Glossary</vt:lpstr>
      <vt:lpstr>Taxonomy</vt:lpstr>
      <vt:lpstr>Ontology</vt:lpstr>
      <vt:lpstr>Knowledge-based</vt:lpstr>
      <vt:lpstr>competency questions </vt:lpstr>
      <vt:lpstr>Presentazione standard di PowerPoint</vt:lpstr>
      <vt:lpstr>Next 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Salvatore  Schiera</dc:creator>
  <cp:lastModifiedBy>Daniele Salvatore  Schiera</cp:lastModifiedBy>
  <cp:revision>1</cp:revision>
  <dcterms:created xsi:type="dcterms:W3CDTF">2026-02-09T14:19:37Z</dcterms:created>
  <dcterms:modified xsi:type="dcterms:W3CDTF">2026-05-11T11:04:46Z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0x0101005246F50D1C235B4B85020039AED6DAD4</vt:lpwstr>
  </property>
</Properties>
</file>
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7" r:id="rId3"/>
    <p:sldId id="266" r:id="rId4"/>
    <p:sldId id="280" r:id="rId5"/>
    <p:sldId id="277" r:id="rId6"/>
    <p:sldId id="272" r:id="rId7"/>
    <p:sldId id="279" r:id="rId8"/>
    <p:sldId id="273" r:id="rId9"/>
    <p:sldId id="285" r:id="rId10"/>
    <p:sldId id="286" r:id="rId11"/>
    <p:sldId id="278" r:id="rId12"/>
    <p:sldId id="281" r:id="rId13"/>
    <p:sldId id="282" r:id="rId14"/>
    <p:sldId id="283" r:id="rId15"/>
    <p:sldId id="284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D43E84-B3A0-BE48-E28F-5B7F5B08AADA}" v="13" dt="2025-05-22T09:06:44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784AA4-9A73-52D1-259E-B37EDA55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BE1290-C860-70C3-959F-25282BC07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9860CF-1F5F-7B67-476A-E85DECEC6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D9EF332-806D-1367-CA36-7FB8B1415B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902F53-475D-F805-7BD7-F66A394A6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F26EE8-CACE-94A0-5798-BA2C82DB3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1827609-8050-0393-DCAA-61C97037E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ADA54-D446-7FB3-765D-94F414F4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 fontScale="90000"/>
          </a:bodyPr>
          <a:lstStyle/>
          <a:p>
            <a:pPr>
              <a:spcBef>
                <a:spcPts val="1000"/>
              </a:spcBef>
            </a:pPr>
            <a:r>
              <a:rPr lang="en-US" sz="3200" b="1" dirty="0"/>
              <a:t>LLM-powered </a:t>
            </a:r>
            <a:br>
              <a:rPr lang="en-US" sz="3200" b="1" dirty="0"/>
            </a:br>
            <a:r>
              <a:rPr lang="en-US" sz="3200" b="1" dirty="0"/>
              <a:t>DB gateway service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latin typeface="Aptos"/>
              </a:rPr>
              <a:t>Professor Lorenzo </a:t>
            </a:r>
            <a:r>
              <a:rPr lang="en-US" sz="2400" dirty="0" err="1">
                <a:latin typeface="Aptos"/>
              </a:rPr>
              <a:t>Bottaccioli</a:t>
            </a:r>
            <a:br>
              <a:rPr lang="en-US" sz="2400" dirty="0">
                <a:latin typeface="Aptos"/>
              </a:rPr>
            </a:br>
            <a:r>
              <a:rPr lang="en-US" sz="2400" dirty="0">
                <a:latin typeface="Aptos"/>
              </a:rPr>
              <a:t>Professor Edoardo Patti </a:t>
            </a:r>
            <a:br>
              <a:rPr lang="en-US" sz="2400" dirty="0">
                <a:latin typeface="Aptos"/>
              </a:rPr>
            </a:br>
            <a:r>
              <a:rPr lang="en-US" sz="2400" dirty="0">
                <a:latin typeface="Aptos"/>
              </a:rPr>
              <a:t>Pietro Rando Mazzarino</a:t>
            </a:r>
            <a:endParaRPr lang="en-US" dirty="0"/>
          </a:p>
          <a:p>
            <a:pPr>
              <a:spcBef>
                <a:spcPts val="1000"/>
              </a:spcBef>
            </a:pPr>
            <a:endParaRPr lang="en-US" sz="2400" dirty="0">
              <a:latin typeface="Aptos"/>
            </a:endParaRPr>
          </a:p>
          <a:p>
            <a:pPr>
              <a:spcBef>
                <a:spcPts val="1000"/>
              </a:spcBef>
            </a:pPr>
            <a:r>
              <a:rPr lang="en-US" sz="2400" dirty="0">
                <a:latin typeface="Aptos"/>
              </a:rPr>
              <a:t>Ali </a:t>
            </a:r>
            <a:r>
              <a:rPr lang="en-US" sz="2400" dirty="0" err="1">
                <a:latin typeface="Aptos"/>
              </a:rPr>
              <a:t>Taherdoust</a:t>
            </a:r>
            <a:endParaRPr lang="en-US" sz="2400">
              <a:latin typeface="Aptos"/>
            </a:endParaRPr>
          </a:p>
        </p:txBody>
      </p:sp>
      <p:pic>
        <p:nvPicPr>
          <p:cNvPr id="5" name="Picture 4" descr="A close up of logos&#10;&#10;Description automatically generated">
            <a:extLst>
              <a:ext uri="{FF2B5EF4-FFF2-40B4-BE49-F238E27FC236}">
                <a16:creationId xmlns:a16="http://schemas.microsoft.com/office/drawing/2014/main" id="{58B374C8-8E9F-C500-DC70-7E089C8C9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8255" y="1998745"/>
            <a:ext cx="4853219" cy="259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75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01FEE-CA52-A810-EF2F-A47E12BC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4140199" y="1296458"/>
            <a:ext cx="3572934" cy="1334029"/>
          </a:xfrm>
        </p:spPr>
        <p:txBody>
          <a:bodyPr/>
          <a:lstStyle/>
          <a:p>
            <a:r>
              <a:rPr lang="en-US" dirty="0" err="1"/>
              <a:t>Coesi</a:t>
            </a:r>
            <a:r>
              <a:rPr lang="en-US" dirty="0"/>
              <a:t> backend</a:t>
            </a:r>
          </a:p>
        </p:txBody>
      </p:sp>
      <p:pic>
        <p:nvPicPr>
          <p:cNvPr id="4" name="Content Placeholder 3" descr="A screenshot of a diagram&#10;&#10;Description automatically generated">
            <a:extLst>
              <a:ext uri="{FF2B5EF4-FFF2-40B4-BE49-F238E27FC236}">
                <a16:creationId xmlns:a16="http://schemas.microsoft.com/office/drawing/2014/main" id="{A27F57AD-79D8-9E35-57A8-BF6BA8B79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4" r="59317"/>
          <a:stretch/>
        </p:blipFill>
        <p:spPr>
          <a:xfrm>
            <a:off x="123197" y="176742"/>
            <a:ext cx="3980891" cy="663522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E5D7FD-2917-54C9-CF82-368FC0642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021" y="126999"/>
            <a:ext cx="5464026" cy="661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26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4835-4C6A-45C0-430B-FC4A935D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606524"/>
            <a:ext cx="8796564" cy="422628"/>
          </a:xfrm>
        </p:spPr>
        <p:txBody>
          <a:bodyPr anchor="b">
            <a:normAutofit fontScale="90000"/>
          </a:bodyPr>
          <a:lstStyle/>
          <a:p>
            <a:r>
              <a:rPr lang="en-US" sz="3200"/>
              <a:t>Define objectives for LLM powered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CA2ED-D358-16C8-FA3F-1CA2C86B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64" y="3052715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Accept user prompt and convert it to SQL command base on our DB schema</a:t>
            </a:r>
          </a:p>
          <a:p>
            <a:r>
              <a:rPr lang="en-US" sz="2000" dirty="0"/>
              <a:t>Refine the SQL Command</a:t>
            </a:r>
          </a:p>
          <a:p>
            <a:r>
              <a:rPr lang="en-US" sz="2000" dirty="0"/>
              <a:t>Return the requested data (Create the proper API request Base on our DB service)</a:t>
            </a:r>
          </a:p>
          <a:p>
            <a:r>
              <a:rPr lang="en-US" sz="2000" dirty="0"/>
              <a:t>Update the sample dataset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33A05-CD57-BC29-D6B2-7864F8F7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68" y="1435811"/>
            <a:ext cx="8225336" cy="482122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064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BBFC9A-3758-840F-6676-DFA32697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EEBFBB-010B-0247-42FD-514AC85A9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1A9E960-7A45-1B5D-67B9-0BBCD725D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0A8BBB-CA81-5F36-99CB-B517BB809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D728463-1178-17DD-5998-88513858F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A234940-EF07-7858-491F-4F004EAB6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63CEA66-FDAF-3060-193F-8B0549BEB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FF672-F2D0-3D79-2CBB-98BC4F75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34" y="1185333"/>
            <a:ext cx="5435599" cy="4504267"/>
          </a:xfrm>
        </p:spPr>
        <p:txBody>
          <a:bodyPr anchor="t">
            <a:normAutofit/>
          </a:bodyPr>
          <a:lstStyle/>
          <a:p>
            <a:pPr marL="57150">
              <a:spcBef>
                <a:spcPts val="1000"/>
              </a:spcBef>
            </a:pPr>
            <a:r>
              <a:rPr lang="en-US" sz="4200" dirty="0"/>
              <a:t>AI Engineering text2spatialSQL</a:t>
            </a:r>
            <a:br>
              <a:rPr lang="en-US" sz="2400" dirty="0"/>
            </a:br>
            <a:br>
              <a:rPr lang="en-US" sz="2400" dirty="0"/>
            </a:br>
            <a:r>
              <a:rPr lang="en-US" sz="1900" dirty="0">
                <a:latin typeface="Aptos"/>
              </a:rPr>
              <a:t>1- Benchmark Generation fortuning and evaluating our AI</a:t>
            </a:r>
            <a:endParaRPr lang="en-US"/>
          </a:p>
          <a:p>
            <a:pPr marL="57150">
              <a:spcBef>
                <a:spcPts val="1000"/>
              </a:spcBef>
            </a:pPr>
            <a:r>
              <a:rPr lang="en-US" sz="1900" dirty="0">
                <a:latin typeface="Aptos"/>
              </a:rPr>
              <a:t>2- fine-tune LLM engine</a:t>
            </a:r>
          </a:p>
          <a:p>
            <a:pPr marL="57150">
              <a:spcBef>
                <a:spcPts val="1000"/>
              </a:spcBef>
            </a:pPr>
            <a:r>
              <a:rPr lang="en-US" sz="1900" dirty="0">
                <a:latin typeface="Aptos"/>
              </a:rPr>
              <a:t>3- RAG to project </a:t>
            </a:r>
            <a:r>
              <a:rPr lang="en-US" sz="1900" err="1">
                <a:latin typeface="Aptos"/>
              </a:rPr>
              <a:t>specificproject</a:t>
            </a:r>
            <a:r>
              <a:rPr lang="en-US" sz="1900" dirty="0">
                <a:latin typeface="Aptos"/>
              </a:rPr>
              <a:t> 2 conceptual </a:t>
            </a:r>
            <a:r>
              <a:rPr lang="en-US" sz="1900" err="1">
                <a:latin typeface="Aptos"/>
              </a:rPr>
              <a:t>spatialschema</a:t>
            </a:r>
            <a:r>
              <a:rPr lang="en-US" sz="1900" dirty="0">
                <a:latin typeface="Aptos"/>
              </a:rPr>
              <a:t>, </a:t>
            </a:r>
            <a:r>
              <a:rPr lang="en-US" sz="1900" err="1">
                <a:latin typeface="Aptos"/>
              </a:rPr>
              <a:t>crs</a:t>
            </a:r>
            <a:r>
              <a:rPr lang="en-US" sz="1900" dirty="0">
                <a:latin typeface="Aptos"/>
              </a:rPr>
              <a:t>,...</a:t>
            </a:r>
          </a:p>
          <a:p>
            <a:pPr marL="57150">
              <a:spcBef>
                <a:spcPts val="1000"/>
              </a:spcBef>
            </a:pPr>
            <a:r>
              <a:rPr lang="en-US" sz="1900" dirty="0">
                <a:latin typeface="Aptos"/>
              </a:rPr>
              <a:t>3- </a:t>
            </a:r>
            <a:r>
              <a:rPr lang="en-US" sz="1900" err="1">
                <a:latin typeface="Aptos"/>
              </a:rPr>
              <a:t>CoT</a:t>
            </a:r>
            <a:r>
              <a:rPr lang="en-US" sz="1900" dirty="0">
                <a:latin typeface="Aptos"/>
              </a:rPr>
              <a:t> to project specific project2 conceptual spatial </a:t>
            </a:r>
            <a:r>
              <a:rPr lang="en-US" sz="1900" err="1">
                <a:latin typeface="Aptos"/>
              </a:rPr>
              <a:t>schema,crs</a:t>
            </a:r>
            <a:r>
              <a:rPr lang="en-US" sz="1900" dirty="0">
                <a:latin typeface="Aptos"/>
              </a:rPr>
              <a:t>,...</a:t>
            </a:r>
          </a:p>
          <a:p>
            <a:pPr marL="57150">
              <a:spcBef>
                <a:spcPts val="1000"/>
              </a:spcBef>
            </a:pPr>
            <a:r>
              <a:rPr lang="en-US" sz="1900" dirty="0">
                <a:latin typeface="Aptos"/>
              </a:rPr>
              <a:t>4- Agentic Agent to </a:t>
            </a:r>
            <a:r>
              <a:rPr lang="en-US" sz="1900" err="1">
                <a:latin typeface="Aptos"/>
              </a:rPr>
              <a:t>useRAG</a:t>
            </a:r>
            <a:r>
              <a:rPr lang="en-US" sz="1900" dirty="0">
                <a:latin typeface="Aptos"/>
              </a:rPr>
              <a:t>/</a:t>
            </a:r>
            <a:r>
              <a:rPr lang="en-US" sz="1900" err="1">
                <a:latin typeface="Aptos"/>
              </a:rPr>
              <a:t>CoT</a:t>
            </a:r>
            <a:r>
              <a:rPr lang="en-US" sz="1900" dirty="0">
                <a:latin typeface="Aptos"/>
              </a:rPr>
              <a:t>/Tools to Deliver </a:t>
            </a:r>
            <a:r>
              <a:rPr lang="en-US" sz="1900" err="1">
                <a:latin typeface="Aptos"/>
              </a:rPr>
              <a:t>theresults</a:t>
            </a:r>
            <a:r>
              <a:rPr lang="en-US" sz="1900" dirty="0">
                <a:latin typeface="Aptos"/>
              </a:rPr>
              <a:t> </a:t>
            </a:r>
            <a:endParaRPr lang="en-US" dirty="0"/>
          </a:p>
        </p:txBody>
      </p:sp>
      <p:pic>
        <p:nvPicPr>
          <p:cNvPr id="5" name="Picture 4" descr="A close up of logos&#10;&#10;Description automatically generated">
            <a:extLst>
              <a:ext uri="{FF2B5EF4-FFF2-40B4-BE49-F238E27FC236}">
                <a16:creationId xmlns:a16="http://schemas.microsoft.com/office/drawing/2014/main" id="{CC76C67F-7524-7CF1-4A0E-E74A2CC44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84855" y="-75588"/>
            <a:ext cx="2347086" cy="1258393"/>
          </a:xfrm>
          <a:prstGeom prst="rect">
            <a:avLst/>
          </a:prstGeom>
        </p:spPr>
      </p:pic>
      <p:pic>
        <p:nvPicPr>
          <p:cNvPr id="4" name="Picture 3" descr="A diagram of a data flow&#10;&#10;AI-generated content may be incorrect.">
            <a:extLst>
              <a:ext uri="{FF2B5EF4-FFF2-40B4-BE49-F238E27FC236}">
                <a16:creationId xmlns:a16="http://schemas.microsoft.com/office/drawing/2014/main" id="{AFFEC61C-BF38-6AB4-B19A-E0ABD538C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496" y="1948595"/>
            <a:ext cx="5159587" cy="3307943"/>
          </a:xfrm>
          <a:prstGeom prst="rect">
            <a:avLst/>
          </a:prstGeom>
        </p:spPr>
      </p:pic>
      <p:pic>
        <p:nvPicPr>
          <p:cNvPr id="7" name="Content Placeholder 3" descr="ChromaDB: An Overview. ChromaDB is a powerful vector database… | by VIKRANT  SINGH | Medium">
            <a:extLst>
              <a:ext uri="{FF2B5EF4-FFF2-40B4-BE49-F238E27FC236}">
                <a16:creationId xmlns:a16="http://schemas.microsoft.com/office/drawing/2014/main" id="{A9E8C008-7F6F-1706-FED2-E1751DBE7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397842" y="5258897"/>
            <a:ext cx="560233" cy="465138"/>
          </a:xfrm>
        </p:spPr>
      </p:pic>
      <p:pic>
        <p:nvPicPr>
          <p:cNvPr id="13" name="Content Placeholder 3" descr="A black and white cartoon animal&#10;&#10;AI-generated content may be incorrect.">
            <a:extLst>
              <a:ext uri="{FF2B5EF4-FFF2-40B4-BE49-F238E27FC236}">
                <a16:creationId xmlns:a16="http://schemas.microsoft.com/office/drawing/2014/main" id="{7013EA8A-5B47-379B-1977-4D3401FEC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2094" y="1190625"/>
            <a:ext cx="546212" cy="575205"/>
          </a:xfrm>
          <a:prstGeom prst="rect">
            <a:avLst/>
          </a:prstGeom>
        </p:spPr>
      </p:pic>
      <p:pic>
        <p:nvPicPr>
          <p:cNvPr id="17" name="Picture 16" descr="Qwen (千问) Logo Free Download SVG, PN... · LobeHub">
            <a:extLst>
              <a:ext uri="{FF2B5EF4-FFF2-40B4-BE49-F238E27FC236}">
                <a16:creationId xmlns:a16="http://schemas.microsoft.com/office/drawing/2014/main" id="{8B3F44DD-BF93-854E-13E6-65A76CEC68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2266" y="1176867"/>
            <a:ext cx="584201" cy="601135"/>
          </a:xfrm>
          <a:prstGeom prst="rect">
            <a:avLst/>
          </a:prstGeom>
        </p:spPr>
      </p:pic>
      <p:pic>
        <p:nvPicPr>
          <p:cNvPr id="19" name="Picture 18" descr="A black background with many squares&#10;&#10;AI-generated content may be incorrect.">
            <a:extLst>
              <a:ext uri="{FF2B5EF4-FFF2-40B4-BE49-F238E27FC236}">
                <a16:creationId xmlns:a16="http://schemas.microsoft.com/office/drawing/2014/main" id="{EF232ED3-4855-9A9F-5F3E-51613E8C11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266" y="1181100"/>
            <a:ext cx="1617133" cy="609600"/>
          </a:xfrm>
          <a:prstGeom prst="rect">
            <a:avLst/>
          </a:prstGeom>
        </p:spPr>
      </p:pic>
      <p:pic>
        <p:nvPicPr>
          <p:cNvPr id="21" name="Picture 20" descr="Logo">
            <a:extLst>
              <a:ext uri="{FF2B5EF4-FFF2-40B4-BE49-F238E27FC236}">
                <a16:creationId xmlns:a16="http://schemas.microsoft.com/office/drawing/2014/main" id="{C2009E36-35E6-B4D0-4148-56551E7C5A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7767" y="5232024"/>
            <a:ext cx="1030384" cy="51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1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8703-BD69-1284-BB63-70FEC7F2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24F9-B165-BA28-3B2D-B0EFEF2AFB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1- Benchmark generation text2spatialSQL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A48D4-FC0B-A168-32A1-D892676CD5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1-0-Introduction</a:t>
            </a:r>
          </a:p>
          <a:p>
            <a:r>
              <a:rPr lang="en-US" dirty="0"/>
              <a:t>1-1- Generate core dataset pairs of NLP to ground truth spatial </a:t>
            </a:r>
            <a:r>
              <a:rPr lang="en-US" dirty="0" err="1"/>
              <a:t>sql</a:t>
            </a:r>
            <a:endParaRPr lang="en-US"/>
          </a:p>
          <a:p>
            <a:r>
              <a:rPr lang="en-US" dirty="0"/>
              <a:t>1-2- Syntactic data generation </a:t>
            </a:r>
          </a:p>
        </p:txBody>
      </p:sp>
    </p:spTree>
    <p:extLst>
      <p:ext uri="{BB962C8B-B14F-4D97-AF65-F5344CB8AC3E}">
        <p14:creationId xmlns:p14="http://schemas.microsoft.com/office/powerpoint/2010/main" val="286559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text box with black text&#10;&#10;AI-generated content may be incorrect.">
            <a:extLst>
              <a:ext uri="{FF2B5EF4-FFF2-40B4-BE49-F238E27FC236}">
                <a16:creationId xmlns:a16="http://schemas.microsoft.com/office/drawing/2014/main" id="{8C71C690-7863-681A-3681-3AB141235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244" y="2690895"/>
            <a:ext cx="8202627" cy="3308620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2254A77-DEF7-F4D3-17D0-627BA0B2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1-0- introduction, AI Evaluation, </a:t>
            </a:r>
            <a:br>
              <a:rPr lang="en-US" dirty="0"/>
            </a:br>
            <a:r>
              <a:rPr lang="en-US" dirty="0"/>
              <a:t>Gap in NLP2SpatialSQL Benchmark,</a:t>
            </a:r>
            <a:br>
              <a:rPr lang="en-US" dirty="0"/>
            </a:br>
            <a:r>
              <a:rPr lang="en-US" dirty="0"/>
              <a:t>dataset vs benchmark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A81C36-0878-9DB6-F2AB-090C95E98DA5}"/>
              </a:ext>
            </a:extLst>
          </p:cNvPr>
          <p:cNvSpPr txBox="1"/>
          <p:nvPr/>
        </p:nvSpPr>
        <p:spPr>
          <a:xfrm>
            <a:off x="8685451" y="2083698"/>
            <a:ext cx="327727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Basic Metrics:</a:t>
            </a:r>
          </a:p>
          <a:p>
            <a:r>
              <a:rPr lang="en-US" sz="3200" dirty="0"/>
              <a:t>1-Parameters</a:t>
            </a:r>
          </a:p>
          <a:p>
            <a:r>
              <a:rPr lang="en-US" sz="3200" dirty="0"/>
              <a:t>2-Context Length</a:t>
            </a:r>
          </a:p>
          <a:p>
            <a:r>
              <a:rPr lang="en-US" sz="3200" dirty="0"/>
              <a:t>3- Pricing</a:t>
            </a:r>
          </a:p>
          <a:p>
            <a:endParaRPr lang="en-US" sz="3200" dirty="0"/>
          </a:p>
          <a:p>
            <a:r>
              <a:rPr lang="en-US" sz="3200" b="1" dirty="0"/>
              <a:t>Results:</a:t>
            </a:r>
          </a:p>
          <a:p>
            <a:r>
              <a:rPr lang="en-US" sz="3200" dirty="0">
                <a:solidFill>
                  <a:srgbClr val="FF0000"/>
                </a:solidFill>
              </a:rPr>
              <a:t>1-Benchmarks</a:t>
            </a:r>
          </a:p>
          <a:p>
            <a:r>
              <a:rPr lang="en-US" sz="3200" dirty="0"/>
              <a:t>2-Leaderboard</a:t>
            </a:r>
          </a:p>
          <a:p>
            <a:r>
              <a:rPr lang="en-US" sz="3200" dirty="0"/>
              <a:t>3-Arenas</a:t>
            </a:r>
          </a:p>
        </p:txBody>
      </p:sp>
    </p:spTree>
    <p:extLst>
      <p:ext uri="{BB962C8B-B14F-4D97-AF65-F5344CB8AC3E}">
        <p14:creationId xmlns:p14="http://schemas.microsoft.com/office/powerpoint/2010/main" val="1172274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C114-2EF6-E264-A870-95818BCE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1-1- Benchmark NLP generator-</a:t>
            </a:r>
            <a:br>
              <a:rPr lang="en-US" dirty="0"/>
            </a:br>
            <a:r>
              <a:rPr lang="en-US" dirty="0"/>
              <a:t> Only SELECT, No DROP DELETE UPDATE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9B1A4AA-C8AC-4BBF-4091-657F3C6B5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360" y="1920032"/>
            <a:ext cx="6509086" cy="4351338"/>
          </a:xfrm>
        </p:spPr>
      </p:pic>
      <p:pic>
        <p:nvPicPr>
          <p:cNvPr id="5" name="Picture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F8A7D00F-59EC-1BBF-1D7B-1A136E3F5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571" y="1918228"/>
            <a:ext cx="3303058" cy="1810809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2D40CA4-6F27-72AF-4860-D5ADAF973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750" y="5472642"/>
            <a:ext cx="3323167" cy="78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9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E92D2D-5BA0-F0E0-76D1-983C8377DC60}"/>
              </a:ext>
            </a:extLst>
          </p:cNvPr>
          <p:cNvSpPr>
            <a:spLocks noGrp="1"/>
          </p:cNvSpPr>
          <p:nvPr/>
        </p:nvSpPr>
        <p:spPr>
          <a:xfrm>
            <a:off x="639402" y="639520"/>
            <a:ext cx="4199467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1-1-1- core PostGIS functions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784033-672C-7125-583E-76DF90187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679" y="2807208"/>
            <a:ext cx="5256451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200" dirty="0">
                <a:ea typeface="+mn-lt"/>
                <a:cs typeface="+mn-lt"/>
              </a:rPr>
              <a:t>Spatial Relationship Functions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200" dirty="0">
                <a:ea typeface="+mn-lt"/>
                <a:cs typeface="+mn-lt"/>
              </a:rPr>
              <a:t>Distance Functions</a:t>
            </a:r>
          </a:p>
          <a:p>
            <a:pPr marL="457200" indent="-457200">
              <a:buAutoNum type="arabicPeriod"/>
            </a:pPr>
            <a:r>
              <a:rPr lang="en-US" sz="2200" dirty="0">
                <a:ea typeface="+mn-lt"/>
                <a:cs typeface="+mn-lt"/>
              </a:rPr>
              <a:t>Measurement Functions</a:t>
            </a:r>
          </a:p>
          <a:p>
            <a:pPr marL="457200" indent="-457200">
              <a:buAutoNum type="arabicPeriod"/>
            </a:pPr>
            <a:r>
              <a:rPr lang="en-US" sz="2200" dirty="0">
                <a:ea typeface="+mn-lt"/>
                <a:cs typeface="+mn-lt"/>
              </a:rPr>
              <a:t>Geometry Construction / Modification</a:t>
            </a:r>
          </a:p>
          <a:p>
            <a:pPr marL="457200" indent="-457200">
              <a:buAutoNum type="arabicPeriod"/>
            </a:pPr>
            <a:r>
              <a:rPr lang="en-US" sz="2200" dirty="0">
                <a:ea typeface="+mn-lt"/>
                <a:cs typeface="+mn-lt"/>
              </a:rPr>
              <a:t>Geometry Transformation / Analysis</a:t>
            </a: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C736154-7369-0E69-E119-3FC8A1102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219" y="250613"/>
            <a:ext cx="5525074" cy="642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36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A3E6-C8CC-705C-4CF4-6B6369D3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908" y="3210824"/>
            <a:ext cx="5093937" cy="3625050"/>
          </a:xfrm>
        </p:spPr>
        <p:txBody>
          <a:bodyPr>
            <a:normAutofit/>
          </a:bodyPr>
          <a:lstStyle/>
          <a:p>
            <a:r>
              <a:rPr lang="en-US" dirty="0"/>
              <a:t>2- Fine-tunning LLM</a:t>
            </a:r>
            <a:br>
              <a:rPr lang="en-US" dirty="0"/>
            </a:br>
            <a:r>
              <a:rPr lang="en-US" sz="2000" dirty="0"/>
              <a:t>load base model without quantization</a:t>
            </a:r>
            <a:br>
              <a:rPr lang="en-US" sz="2000" dirty="0"/>
            </a:br>
            <a:r>
              <a:rPr lang="en-US" sz="2000" dirty="0"/>
              <a:t>using 8 bit</a:t>
            </a:r>
            <a:br>
              <a:rPr lang="en-US" sz="2000" dirty="0"/>
            </a:br>
            <a:r>
              <a:rPr lang="en-US" sz="2000" dirty="0"/>
              <a:t>using 4 bit</a:t>
            </a:r>
            <a:endParaRPr lang="en-US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6A300-A8B3-3D53-2A60-01A6528BD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838" y="180245"/>
            <a:ext cx="10583033" cy="65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System </a:t>
            </a:r>
            <a:r>
              <a:rPr lang="en-US" err="1"/>
              <a:t>requierment</a:t>
            </a:r>
            <a:r>
              <a:rPr lang="en-US" dirty="0"/>
              <a:t>: for 8B parameter --&gt;32GB </a:t>
            </a:r>
            <a:r>
              <a:rPr lang="en-US" err="1"/>
              <a:t>VRam</a:t>
            </a:r>
            <a:r>
              <a:rPr lang="en-US" dirty="0"/>
              <a:t> or 2x24GB</a:t>
            </a:r>
          </a:p>
          <a:p>
            <a:r>
              <a:rPr lang="en-US" dirty="0"/>
              <a:t>Llama (context_size:128256, Embed_dimentionality:4096)</a:t>
            </a:r>
          </a:p>
          <a:p>
            <a:r>
              <a:rPr lang="en-US" dirty="0" err="1"/>
              <a:t>LlamaDecoderLayer</a:t>
            </a:r>
            <a:r>
              <a:rPr lang="en-US" dirty="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/>
              <a:t>Self_attention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700" err="1"/>
              <a:t>q_proj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700" err="1"/>
              <a:t>k_proj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700" err="1"/>
              <a:t>v_proj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700" err="1"/>
              <a:t>o_proj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700" err="1"/>
              <a:t>rotary_emb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 err="1"/>
              <a:t>Mlp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600" err="1"/>
              <a:t>Gate_proj</a:t>
            </a:r>
            <a:endParaRPr lang="en-US" sz="1600"/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600" err="1"/>
              <a:t>Vp_proj</a:t>
            </a:r>
            <a:endParaRPr lang="en-US" sz="1600"/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600" dirty="0" err="1"/>
              <a:t>Down_proj</a:t>
            </a:r>
            <a:endParaRPr lang="en-US" sz="16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 dirty="0" err="1"/>
              <a:t>Act_fn</a:t>
            </a:r>
            <a:r>
              <a:rPr lang="en-US" sz="1800" dirty="0"/>
              <a:t> </a:t>
            </a:r>
            <a:r>
              <a:rPr lang="en-US" sz="1800" dirty="0" err="1"/>
              <a:t>SiLU</a:t>
            </a:r>
            <a:endParaRPr lang="en-US" dirty="0" err="1"/>
          </a:p>
          <a:p>
            <a:r>
              <a:rPr lang="en-US" sz="2600" dirty="0"/>
              <a:t>Input layer norm</a:t>
            </a:r>
          </a:p>
          <a:p>
            <a:r>
              <a:rPr lang="en-US" sz="2600" dirty="0"/>
              <a:t>Post attention layer norm</a:t>
            </a:r>
          </a:p>
          <a:p>
            <a:r>
              <a:rPr lang="en-US" sz="2600" dirty="0" err="1"/>
              <a:t>Lm_head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457200" lvl="1" indent="0">
              <a:buNone/>
            </a:pPr>
            <a:endParaRPr lang="en-US" sz="2100" dirty="0"/>
          </a:p>
          <a:p>
            <a:pPr lvl="2">
              <a:buFont typeface="Wingdings" panose="020B0604020202020204" pitchFamily="34" charset="0"/>
              <a:buChar char="§"/>
            </a:pP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endParaRPr lang="en-US" dirty="0"/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6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03BD-A8FB-CB32-66E6-D2189253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2-2- </a:t>
            </a:r>
            <a:r>
              <a:rPr lang="en-US" dirty="0" err="1"/>
              <a:t>QLoRA</a:t>
            </a:r>
            <a:r>
              <a:rPr lang="en-US" dirty="0"/>
              <a:t> (Quantized Low Ranked Adapter)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CA6AA-3AF1-44FB-9469-F6ACA69EF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Three Essential Hyperparameters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r -&gt; Rank (start with 8 then 16 then 32)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Alpha -&gt; Scaling Factor (double r)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Target Modules -&gt; (Target the attention head layers – and maybe Output)</a:t>
            </a:r>
          </a:p>
          <a:p>
            <a:r>
              <a:rPr lang="en-US" dirty="0"/>
              <a:t>PEFT (Parameter Efficient Fine Tunning)</a:t>
            </a:r>
          </a:p>
          <a:p>
            <a:r>
              <a:rPr lang="en-US" sz="1800" err="1"/>
              <a:t>Fine_tuned_model</a:t>
            </a:r>
            <a:r>
              <a:rPr lang="en-US" sz="1800" dirty="0"/>
              <a:t> = </a:t>
            </a:r>
            <a:r>
              <a:rPr lang="en-US" sz="1800" err="1"/>
              <a:t>PeftModel.from_pretrained</a:t>
            </a:r>
            <a:r>
              <a:rPr lang="en-US" sz="1800" dirty="0"/>
              <a:t>(</a:t>
            </a:r>
            <a:r>
              <a:rPr lang="en-US" sz="1800" err="1"/>
              <a:t>base_model,FINETUNED_MODEL</a:t>
            </a:r>
            <a:r>
              <a:rPr lang="en-US" sz="1800" dirty="0"/>
              <a:t>)</a:t>
            </a:r>
          </a:p>
          <a:p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12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2382CAD1-14B5-B163-52D6-64779EC35BE0}"/>
              </a:ext>
            </a:extLst>
          </p:cNvPr>
          <p:cNvSpPr/>
          <p:nvPr/>
        </p:nvSpPr>
        <p:spPr>
          <a:xfrm>
            <a:off x="9730596" y="5103826"/>
            <a:ext cx="1591509" cy="124842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002E8F-6286-5C54-1B81-A533A5300335}"/>
              </a:ext>
            </a:extLst>
          </p:cNvPr>
          <p:cNvSpPr/>
          <p:nvPr/>
        </p:nvSpPr>
        <p:spPr>
          <a:xfrm>
            <a:off x="9278417" y="2206578"/>
            <a:ext cx="2714580" cy="235702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BF5131-79FE-3379-23D6-94996C0271F2}"/>
              </a:ext>
            </a:extLst>
          </p:cNvPr>
          <p:cNvSpPr/>
          <p:nvPr/>
        </p:nvSpPr>
        <p:spPr>
          <a:xfrm>
            <a:off x="3697384" y="1405839"/>
            <a:ext cx="5122483" cy="255131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33738D-D99E-4675-56F3-A8920900C81D}"/>
              </a:ext>
            </a:extLst>
          </p:cNvPr>
          <p:cNvSpPr/>
          <p:nvPr/>
        </p:nvSpPr>
        <p:spPr>
          <a:xfrm>
            <a:off x="3880729" y="4067971"/>
            <a:ext cx="5854287" cy="24961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187A4-B3B3-A3CD-1FAE-E7FEAC22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3- RAG/</a:t>
            </a:r>
            <a:r>
              <a:rPr lang="en-US" sz="4000" dirty="0" err="1"/>
              <a:t>CoT</a:t>
            </a:r>
            <a:r>
              <a:rPr lang="en-US" sz="4000" dirty="0"/>
              <a:t> - Adapt specific project for text2SpatialSQL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6C41-B79B-A38B-DABB-52A775106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4" y="1740959"/>
            <a:ext cx="3522133" cy="44360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Describe schema (tables and their attributes)</a:t>
            </a:r>
          </a:p>
        </p:txBody>
      </p:sp>
      <p:pic>
        <p:nvPicPr>
          <p:cNvPr id="16" name="Picture 1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9F5FBEE-2425-6509-5FAA-5AEE302A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3" y="5576255"/>
            <a:ext cx="4459217" cy="1201331"/>
          </a:xfrm>
          <a:prstGeom prst="rect">
            <a:avLst/>
          </a:prstGeom>
        </p:spPr>
      </p:pic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D9D6A268-9C67-F9BF-EA79-988ED66E1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466" y="1445554"/>
            <a:ext cx="8535748" cy="521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54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1E830-41AF-F936-2801-FDB39DCF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4- Agentic Agent to use RAG/CoT/Tools to Deliver the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F1BF4-21DA-E9F1-128B-3DDC83821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4-1- set </a:t>
            </a:r>
            <a:r>
              <a:rPr lang="en-US" sz="2400" dirty="0" err="1"/>
              <a:t>Ollama</a:t>
            </a:r>
            <a:r>
              <a:rPr lang="en-US" sz="2400" dirty="0"/>
              <a:t>&amp; DB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4044CEB-D022-BDD1-CD88-8EBE5C57F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662" y="2532549"/>
            <a:ext cx="5526106" cy="360578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E87F6A-975A-607B-7F6D-B73B17FC4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48" y="2532549"/>
            <a:ext cx="5568779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7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AA41-68DA-493B-1BF7-F50A3404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Agent - tools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72E90C-1FDB-BDD1-CC9F-2FA81F5D5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994" y="1485677"/>
            <a:ext cx="11686938" cy="4231448"/>
          </a:xfrm>
        </p:spPr>
      </p:pic>
    </p:spTree>
    <p:extLst>
      <p:ext uri="{BB962C8B-B14F-4D97-AF65-F5344CB8AC3E}">
        <p14:creationId xmlns:p14="http://schemas.microsoft.com/office/powerpoint/2010/main" val="2098338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5903-F077-A397-638C-08A0D0AF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Agent - Prompt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8B606D-4A70-CE97-0928-622E55BA3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5901" y="1366562"/>
            <a:ext cx="8641304" cy="5434512"/>
          </a:xfrm>
        </p:spPr>
      </p:pic>
    </p:spTree>
    <p:extLst>
      <p:ext uri="{BB962C8B-B14F-4D97-AF65-F5344CB8AC3E}">
        <p14:creationId xmlns:p14="http://schemas.microsoft.com/office/powerpoint/2010/main" val="184239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5B5C523-6F76-2E92-3AD2-4A0615815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374" y="546213"/>
            <a:ext cx="11170542" cy="4504509"/>
          </a:xfrm>
        </p:spPr>
      </p:pic>
    </p:spTree>
    <p:extLst>
      <p:ext uri="{BB962C8B-B14F-4D97-AF65-F5344CB8AC3E}">
        <p14:creationId xmlns:p14="http://schemas.microsoft.com/office/powerpoint/2010/main" val="1168676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E747185-B485-F2B2-95FD-4EB8511CF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421" y="234192"/>
            <a:ext cx="10801015" cy="5942771"/>
          </a:xfrm>
        </p:spPr>
      </p:pic>
    </p:spTree>
    <p:extLst>
      <p:ext uri="{BB962C8B-B14F-4D97-AF65-F5344CB8AC3E}">
        <p14:creationId xmlns:p14="http://schemas.microsoft.com/office/powerpoint/2010/main" val="1416392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LLM-powered  DB gateway service  Professor Lorenzo Bottaccioli Professor Edoardo Patti  Pietro Rando Mazzarino  Ali Taherdoust</vt:lpstr>
      <vt:lpstr>Coesi backend</vt:lpstr>
      <vt:lpstr>Define objectives for LLM powered Service</vt:lpstr>
      <vt:lpstr>AI Engineering text2spatialSQL  1- Benchmark Generation fortuning and evaluating our AI 2- fine-tune LLM engine 3- RAG to project specificproject 2 conceptual spatialschema, crs,... 3- CoT to project specific project2 conceptual spatial schema,crs,... 4- Agentic Agent to useRAG/CoT/Tools to Deliver theresults </vt:lpstr>
      <vt:lpstr>1- Benchmark generation text2spatialSQL </vt:lpstr>
      <vt:lpstr>1-0- introduction, AI Evaluation,  Gap in NLP2SpatialSQL Benchmark, dataset vs benchmark</vt:lpstr>
      <vt:lpstr>1-1- Benchmark NLP generator-  Only SELECT, No DROP DELETE UPDATE</vt:lpstr>
      <vt:lpstr>PowerPoint Presentation</vt:lpstr>
      <vt:lpstr>2- Fine-tunning LLM load base model without quantization using 8 bit using 4 bit</vt:lpstr>
      <vt:lpstr>2-2- QLoRA (Quantized Low Ranked Adapter)</vt:lpstr>
      <vt:lpstr>3- RAG/CoT - Adapt specific project for text2SpatialSQL AI</vt:lpstr>
      <vt:lpstr>4- Agentic Agent to use RAG/CoT/Tools to Deliver the results </vt:lpstr>
      <vt:lpstr>Langgraph Agent - tools</vt:lpstr>
      <vt:lpstr>Langgraph Agent - Prompt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793</cp:revision>
  <dcterms:created xsi:type="dcterms:W3CDTF">2025-02-14T09:26:57Z</dcterms:created>
  <dcterms:modified xsi:type="dcterms:W3CDTF">2025-05-22T09:07:35Z</dcterms:modified>
</cp:coreProperties>
</file>